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731520"/>
            <a:ext cx="5059375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_engineering_17916242753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59557"/>
            <a:ext cx="4876495" cy="27217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777240"/>
            <a:ext cx="365760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PORTOFOLIO TEKNIK MESIN &amp; MANUFAKTUR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IZZA MAULANA AKBAR, S.T.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50" b="1">
                <a:solidFill>
                  <a:srgbClr val="1D4ED8"/>
                </a:solidFill>
                <a:latin typeface="Segoe UI"/>
              </a:defRPr>
            </a:pPr>
            <a:r>
              <a:t>Mechanical &amp; Maintenance Engineer | Materials &amp; CAD Specialist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3949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defRPr sz="1250">
                <a:solidFill>
                  <a:srgbClr val="334155"/>
                </a:solidFill>
                <a:latin typeface="Segoe UI"/>
              </a:defRPr>
            </a:pPr>
            <a:r>
              <a:t>Sarjana Teknik Mesin Universitas Trunojoyo Madura dengan keahlian riset material komposit (standar ASTM), pemodelan 3D CAD/CAE, perancangan mesin agroindustri, serta pemeliharaan preventif (maintenance) mesin industri.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633472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047857"/>
                </a:solidFill>
                <a:latin typeface="Segoe UI"/>
              </a:defRPr>
            </a:pPr>
            <a:r>
              <a:t>Standar Pengujian ASTM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4114800"/>
            <a:ext cx="2633472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B45309"/>
                </a:solidFill>
                <a:latin typeface="Segoe UI"/>
              </a:defRPr>
            </a:pPr>
            <a:r>
              <a:t>Hak Desain Industri Kemenkumham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17136"/>
            <a:ext cx="2633472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Autodesk Inventor &amp; SolidWorks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4517136"/>
            <a:ext cx="2633472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Preventive &amp; Breakdown Maintenance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10912"/>
            <a:ext cx="5394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Telepon / WhatsApp : </a:t>
            </a:r>
            <a:r>
              <a:rPr b="0">
                <a:solidFill>
                  <a:srgbClr val="334155"/>
                </a:solidFill>
              </a:rPr>
              <a:t>+62 823-3796-9458</a:t>
            </a:r>
          </a:p>
          <a:p>
            <a:pPr>
              <a:spcAft>
                <a:spcPts val="3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Email Profesional : </a:t>
            </a:r>
            <a:r>
              <a:rPr b="0">
                <a:solidFill>
                  <a:srgbClr val="334155"/>
                </a:solidFill>
              </a:rPr>
              <a:t>maulanaizza355@gmail.com</a:t>
            </a:r>
          </a:p>
          <a:p>
            <a:pPr>
              <a:spcAft>
                <a:spcPts val="3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Pendidikan Formal : </a:t>
            </a:r>
            <a:r>
              <a:rPr b="0">
                <a:solidFill>
                  <a:srgbClr val="334155"/>
                </a:solidFill>
              </a:rPr>
              <a:t>S1 Teknik Mesin — Universitas Trunojoyo Madura (IPK 3.42)</a:t>
            </a:r>
          </a:p>
          <a:p>
            <a:pPr>
              <a:spcAft>
                <a:spcPts val="3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Domisili / Lokasi : </a:t>
            </a:r>
            <a:r>
              <a:rPr b="0">
                <a:solidFill>
                  <a:srgbClr val="334155"/>
                </a:solidFill>
              </a:rPr>
              <a:t>Kab. Tuban, Jawa Timur (Siap Penempatan Kerja)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PROFIL &amp; PENDIDIKAN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Tentang Saya &amp; Latar Belakang Pendidikan Formal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Dedikasi pada rekayasa material, perancangan mekanikal presisi, dan keandalan sistem manufaktur.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02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D4ED8"/>
                </a:solidFill>
                <a:latin typeface="Segoe UI"/>
              </a:defRPr>
            </a:pPr>
            <a:r>
              <a:t>PROFIL PROFESIONAL</a:t>
            </a:r>
          </a:p>
          <a:p>
            <a:pPr>
              <a:spcAft>
                <a:spcPts val="6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Sarjana Teknik Mesin </a:t>
            </a:r>
            <a:r>
              <a:rPr b="0">
                <a:solidFill>
                  <a:srgbClr val="334155"/>
                </a:solidFill>
              </a:rPr>
              <a:t>lulusan Universitas Trunojoyo Madura dengan bidang minat Rekayasa Material &amp; Proses Manufaktur. Memiliki dasar teoritis dan analitikal yang kokoh serta pengalaman praktis langsung di fasilitas manufaktur.</a:t>
            </a:r>
          </a:p>
          <a:p>
            <a:pPr>
              <a:spcAft>
                <a:spcPts val="4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Kompetensi Utama : </a:t>
            </a:r>
            <a:r>
              <a:rPr b="0">
                <a:solidFill>
                  <a:srgbClr val="334155"/>
                </a:solidFill>
              </a:rPr>
              <a:t>Terampil dalam riset material komposit sandwich berbasis serat alam, pengujian ASTM mekanik &amp; termal, pemodelan parametrik 3D Autodesk Inventor &amp; SolidWorks, serta analisis data teknis dengan OriginLab &amp; Minitab.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1D4ED8"/>
                </a:solidFill>
                <a:latin typeface="Segoe UI"/>
              </a:defRPr>
            </a:pPr>
            <a:r>
              <a:t>PENDIDIKAN FORMAL</a:t>
            </a:r>
          </a:p>
          <a:p>
            <a:pPr>
              <a:spcAft>
                <a:spcPts val="500"/>
              </a:spcAft>
              <a:defRPr sz="13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Universitas Trunojoyo Madura </a:t>
            </a:r>
            <a:r>
              <a:rPr b="0">
                <a:solidFill>
                  <a:srgbClr val="334155"/>
                </a:solidFill>
              </a:rPr>
              <a:t>| S1 Teknik Mesin (Fakultas Teknik)</a:t>
            </a:r>
          </a:p>
          <a:p>
            <a:pPr>
              <a:spcAft>
                <a:spcPts val="600"/>
              </a:spcAft>
              <a:defRPr sz="13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Tahun Kelulusan : </a:t>
            </a:r>
            <a:r>
              <a:rPr b="0">
                <a:solidFill>
                  <a:srgbClr val="334155"/>
                </a:solidFill>
              </a:rPr>
              <a:t>2022 – 2026  |  Indeks Prestasi Kumulatif (IPK): 3,42 / 4.00</a:t>
            </a:r>
          </a:p>
          <a:p>
            <a:pPr>
              <a:spcAft>
                <a:spcPts val="5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Fokus Skripsi : </a:t>
            </a:r>
            <a:r>
              <a:rPr b="0">
                <a:solidFill>
                  <a:srgbClr val="334155"/>
                </a:solidFill>
              </a:rPr>
              <a:t>Penelitian dan pengembangan material komposit sandwich berpenguat serat alam sebagai material alternatif panel atap ringan tahan korosi.</a:t>
            </a:r>
          </a:p>
          <a:p>
            <a:pPr>
              <a:spcAft>
                <a:spcPts val="2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Prestasi : </a:t>
            </a:r>
            <a:r>
              <a:rPr b="0">
                <a:solidFill>
                  <a:srgbClr val="334155"/>
                </a:solidFill>
              </a:rPr>
              <a:t>Penerima Hak Desain Industri Kemenkumham RI &amp; Finalis Kewirausahaan Mahasiswa Indonesia (KMI) Expo XV Nasional.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852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55648"/>
            <a:ext cx="38404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DOKUMENTASI SIDANG TUGAS AKHIR KOMPREHENSIF</a:t>
            </a:r>
          </a:p>
        </p:txBody>
      </p:sp>
      <p:pic>
        <p:nvPicPr>
          <p:cNvPr id="13" name="Picture 12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2103120"/>
            <a:ext cx="1737360" cy="1737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4069080"/>
            <a:ext cx="52852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78808"/>
            <a:ext cx="42062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WISUDA SARJANA TEKNIK (S.T.) — FAKULTAS TEKNIK UTM 2026</a:t>
            </a:r>
          </a:p>
        </p:txBody>
      </p:sp>
      <p:pic>
        <p:nvPicPr>
          <p:cNvPr id="16" name="Picture 15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324" y="4526280"/>
            <a:ext cx="1002982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KOMPETENSI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Keahlian Rekayasa, Software CAD, &amp; Standar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Kombinasi komprehensif penguasaan desain digital, metodologi riset ASTM, dan eksekusi manufaktur.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6126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400"/>
              </a:spcAft>
              <a:defRPr sz="1300" b="1">
                <a:solidFill>
                  <a:srgbClr val="1D4ED8"/>
                </a:solidFill>
                <a:latin typeface="Segoe UI"/>
              </a:defRPr>
            </a:pPr>
            <a:r>
              <a:t>1. CAD &amp; 3D DRAFTING SOFTWARE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Autodesk Inventor (Intermediate) : </a:t>
            </a:r>
            <a:r>
              <a:rPr b="0">
                <a:solidFill>
                  <a:srgbClr val="334155"/>
                </a:solidFill>
              </a:rPr>
              <a:t>Pemodelan 3D part parametrik, assembly mekanikal, drafting 2D ISO/ANSI, exploded view, dan Bill of Materials (BOM).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SolidWorks (Certified) &amp; AutoCAD : </a:t>
            </a:r>
            <a:r>
              <a:rPr b="0">
                <a:solidFill>
                  <a:srgbClr val="334155"/>
                </a:solidFill>
              </a:rPr>
              <a:t>Pemodelan mekanik presisi, toleransi geometrik (GD&amp;T), dan gambar kerja 2D orthographic projection.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PrusaSlicer : </a:t>
            </a:r>
            <a:r>
              <a:rPr b="0">
                <a:solidFill>
                  <a:srgbClr val="334155"/>
                </a:solidFill>
              </a:rPr>
              <a:t>Additive manufacturing, slicing parameter, support structure, dan 3D printing.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6126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400"/>
              </a:spcAft>
              <a:defRPr sz="1300" b="1">
                <a:solidFill>
                  <a:srgbClr val="047857"/>
                </a:solidFill>
                <a:latin typeface="Segoe UI"/>
              </a:defRPr>
            </a:pPr>
            <a:r>
              <a:t>2. MATERIAL SCIENCE &amp; ASTM TESTING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Pengujian Standar ASTM : </a:t>
            </a:r>
            <a:r>
              <a:rPr b="0">
                <a:solidFill>
                  <a:srgbClr val="334155"/>
                </a:solidFill>
              </a:rPr>
              <a:t>Uji mekanik (tensile test ASTM D638/D3039, flexural ASTM D790, impact Charpy/Izod) serta uji termal.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Fabrikasi Komposit : </a:t>
            </a:r>
            <a:r>
              <a:rPr b="0">
                <a:solidFill>
                  <a:srgbClr val="334155"/>
                </a:solidFill>
              </a:rPr>
              <a:t>Metode hand lay-up, sandwich composite berbasis serat alam, perlakuan alkali kimia, dan resin curing.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Karakterisasi Material : </a:t>
            </a:r>
            <a:r>
              <a:rPr b="0">
                <a:solidFill>
                  <a:srgbClr val="334155"/>
                </a:solidFill>
              </a:rPr>
              <a:t>Kalkulasi fraksi volume serat dan matriks, analisis densitas, dan porositas struktur.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6126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400"/>
              </a:spcAft>
              <a:defRPr sz="1300" b="1">
                <a:solidFill>
                  <a:srgbClr val="B45309"/>
                </a:solidFill>
                <a:latin typeface="Segoe UI"/>
              </a:defRPr>
            </a:pPr>
            <a:r>
              <a:t>3. MANUFAKTUR, MAINTENANCE &amp; K3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Maintenance Mesin Industri : </a:t>
            </a:r>
            <a:r>
              <a:rPr b="0">
                <a:solidFill>
                  <a:srgbClr val="334155"/>
                </a:solidFill>
              </a:rPr>
              <a:t>Preventive maintenance, troubleshooting gangguan mekanikal, pelumasan komponen berputar, penggantian suku cadang.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Sistem Transmisi &amp; Fluida : </a:t>
            </a:r>
            <a:r>
              <a:rPr b="0">
                <a:solidFill>
                  <a:srgbClr val="334155"/>
                </a:solidFill>
              </a:rPr>
              <a:t>Penanganan sistem puli, v-belt, rantai, bearing, gear unit, dan aktuator pneumatik.</a:t>
            </a:r>
          </a:p>
          <a:p>
            <a:pPr>
              <a:spcAft>
                <a:spcPts val="3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Fabrikasi &amp; K3 Industri : </a:t>
            </a:r>
            <a:r>
              <a:rPr b="0">
                <a:solidFill>
                  <a:srgbClr val="334155"/>
                </a:solidFill>
              </a:rPr>
              <a:t>Pengelasan rangka (SMAW/MIG), perakitan mekanis, dan penerapan SOP K3 workshop.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645920"/>
            <a:ext cx="43708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1755648"/>
            <a:ext cx="31089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CAD &amp; 3D MODELING WORKSTATION</a:t>
            </a:r>
          </a:p>
        </p:txBody>
      </p:sp>
      <p:pic>
        <p:nvPicPr>
          <p:cNvPr id="14" name="Picture 13" descr="cad_workstation_17916255413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631" y="2103120"/>
            <a:ext cx="3112769" cy="17373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86600" y="4069080"/>
            <a:ext cx="43708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4178808"/>
            <a:ext cx="34747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47857"/>
                </a:solidFill>
                <a:latin typeface="Segoe UI"/>
              </a:defRPr>
            </a:pPr>
            <a:r>
              <a:t>PENGUJIAN MATERIAL STANDAR ASTM</a:t>
            </a:r>
          </a:p>
        </p:txBody>
      </p:sp>
      <p:pic>
        <p:nvPicPr>
          <p:cNvPr id="17" name="Picture 16" descr="material_testing_png_17916242722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673" y="4526280"/>
            <a:ext cx="319468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PENGALAMAN KERJA &amp; PRAKTIK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Pengalaman Praktis Industri &amp; Laboratorium Manufaktur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Penerapan kompetensi mekanikal langsung di lini manufaktur pabrik dan instruktur praktikum.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PT. SHOU FONG LASTINDO</a:t>
            </a:r>
          </a:p>
          <a:p>
            <a:pPr>
              <a:spcAft>
                <a:spcPts val="1000"/>
              </a:spcAft>
              <a:defRPr sz="1250" b="1">
                <a:solidFill>
                  <a:srgbClr val="1D4ED8"/>
                </a:solidFill>
                <a:latin typeface="Segoe UI"/>
              </a:defRPr>
            </a:pPr>
            <a:r>
              <a:t>Mekanik Industri (Departemen Mekanik)  |  Pabrik Sepatu</a:t>
            </a:r>
            <a:br/>
            <a:r>
              <a:t>Oktober 2026 – Sekarang</a:t>
            </a:r>
          </a:p>
          <a:p>
            <a:pPr>
              <a:spcAft>
                <a:spcPts val="6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Preventive Maintenance : </a:t>
            </a:r>
            <a:r>
              <a:rPr b="0">
                <a:solidFill>
                  <a:srgbClr val="334155"/>
                </a:solidFill>
              </a:rPr>
              <a:t>Melakukan pemeliharaan berkala terjadwal mesin lini perakitan: cutting press, sewing machine (jahit), toe lasting, heel lasting, cementing (pengeleman), dan oven conveyor pemanas.</a:t>
            </a:r>
          </a:p>
          <a:p>
            <a:pPr>
              <a:spcAft>
                <a:spcPts val="6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Troubleshooting &amp; Breakdown : </a:t>
            </a:r>
            <a:r>
              <a:rPr b="0">
                <a:solidFill>
                  <a:srgbClr val="334155"/>
                </a:solidFill>
              </a:rPr>
              <a:t>Menangani gangguan teknis mendadak pada sistem transmisi mekanikal (pulley, v-belt, bearing, gear unit, rantai) dan sistem pneumatik guna meminimalkan downtime pabrik.</a:t>
            </a:r>
          </a:p>
          <a:p>
            <a:pPr>
              <a:spcAft>
                <a:spcPts val="6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Inspeksi &amp; Pelumasan : </a:t>
            </a:r>
            <a:r>
              <a:rPr b="0">
                <a:solidFill>
                  <a:srgbClr val="334155"/>
                </a:solidFill>
              </a:rPr>
              <a:t>Menginspeksi keausan komponen gerak mesin, melakukan penggantian suku cadang kritis, serta pelumasan (lubrication) teratur sesuai jadwal SOP.</a:t>
            </a:r>
          </a:p>
          <a:p>
            <a:pPr>
              <a:spcAft>
                <a:spcPts val="6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Penyetelan &amp; Kalibrasi : </a:t>
            </a:r>
            <a:r>
              <a:rPr b="0">
                <a:solidFill>
                  <a:srgbClr val="334155"/>
                </a:solidFill>
              </a:rPr>
              <a:t>Melakukan kalibrasi parameter operasional mesin, mencakup tekanan kompresor pneumatik, suhu pemanas lem, dan kecepatan ban berjalan conveyor.</a:t>
            </a:r>
          </a:p>
          <a:p>
            <a:pPr>
              <a:spcAft>
                <a:spcPts val="4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K3 &amp; Pencatatan Logbook : </a:t>
            </a:r>
            <a:r>
              <a:rPr b="0">
                <a:solidFill>
                  <a:srgbClr val="334155"/>
                </a:solidFill>
              </a:rPr>
              <a:t>Menerapkan standar keselamatan kerja industri (K3) bengkel secara ketat serta mendokumentasikan logbook harian perawatan mesin secara tertib.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9379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FAKULTAS TEKNIK UNIVERSITAS TRUNOJOYO MADURA</a:t>
            </a:r>
          </a:p>
          <a:p>
            <a:pPr>
              <a:spcAft>
                <a:spcPts val="600"/>
              </a:spcAft>
              <a:defRPr sz="1200" b="1">
                <a:solidFill>
                  <a:srgbClr val="047857"/>
                </a:solidFill>
                <a:latin typeface="Segoe UI"/>
              </a:defRPr>
            </a:pPr>
            <a:r>
              <a:t>Asisten Praktikum Proses Manufaktur  |  Genap 2025/2026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Pengujian Modul Praktikum : </a:t>
            </a:r>
            <a:r>
              <a:rPr b="0">
                <a:solidFill>
                  <a:srgbClr val="334155"/>
                </a:solidFill>
              </a:rPr>
              <a:t>Menguji coba modul praktikum rancang bangun (perencanaan proses, perancangan CAD Autodesk Inventor, assembly produk pengelasan) sebelum diajarkan ke mahasiswa.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Pembekalan K3 &amp; Supervisi : </a:t>
            </a:r>
            <a:r>
              <a:rPr b="0">
                <a:solidFill>
                  <a:srgbClr val="334155"/>
                </a:solidFill>
              </a:rPr>
              <a:t>Mendemonstrasikan SOP pengoperasian mesin las dan perkakas mesin, serta menegakkan prosedur K3 workshop kepada praktikan.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840480"/>
            <a:ext cx="519379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41148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DOKUMENTASI INSTRUKTUR &amp; WORKSHOP MANUFAKTUR</a:t>
            </a:r>
          </a:p>
        </p:txBody>
      </p:sp>
      <p:pic>
        <p:nvPicPr>
          <p:cNvPr id="13" name="Picture 12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65" y="4297680"/>
            <a:ext cx="1107388" cy="1965960"/>
          </a:xfrm>
          <a:prstGeom prst="rect">
            <a:avLst/>
          </a:prstGeom>
        </p:spPr>
      </p:pic>
      <p:pic>
        <p:nvPicPr>
          <p:cNvPr id="14" name="Picture 13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19" y="4297680"/>
            <a:ext cx="262128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RISET &amp; HKI RESMI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Penelitian Material Komposit ASTM &amp; Hak Desain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Riset material inovatif berstandar pengujian internasional dan perolehan Hak Kekayaan Intelektual resmi.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50" b="1">
                <a:solidFill>
                  <a:srgbClr val="1D4ED8"/>
                </a:solidFill>
                <a:latin typeface="Segoe UI"/>
              </a:defRPr>
            </a:pPr>
            <a:r>
              <a:t>MBKM RISET MATERIAL KOMPOSIT (ASTM)</a:t>
            </a:r>
          </a:p>
          <a:p>
            <a:pPr>
              <a:spcAft>
                <a:spcPts val="600"/>
              </a:spcAft>
              <a:defRPr sz="1150" b="1">
                <a:solidFill>
                  <a:srgbClr val="64748B"/>
                </a:solidFill>
                <a:latin typeface="Segoe UI"/>
              </a:defRPr>
            </a:pPr>
            <a:r>
              <a:t>Universitas Trunojoyo Madura  |  Agustus – Desember 2025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Formulasi Fraksi Volume : </a:t>
            </a:r>
            <a:r>
              <a:rPr b="0">
                <a:solidFill>
                  <a:srgbClr val="334155"/>
                </a:solidFill>
              </a:rPr>
              <a:t>Menghitung secara presisi perbandingan fraksi volume serat alam dan matriks resin polimer dalam perancangan komposit sandwich berkinerja tinggi.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Fabrikasi &amp; Pengujian ASTM : </a:t>
            </a:r>
            <a:r>
              <a:rPr b="0">
                <a:solidFill>
                  <a:srgbClr val="334155"/>
                </a:solidFill>
              </a:rPr>
              <a:t>Memproduksi spesimen menggunakan metode hand lay-up terstandardisasi serta menguji karakteristik mekanik (tarik, lentur) berpedoman standar ASTM.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114800"/>
            <a:ext cx="38404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DOKUMENTASI FABRIKASI &amp; 3D PRINTING RISET</a:t>
            </a:r>
          </a:p>
        </p:txBody>
      </p:sp>
      <p:pic>
        <p:nvPicPr>
          <p:cNvPr id="12" name="Picture 1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39" y="4480560"/>
            <a:ext cx="2377440" cy="1783080"/>
          </a:xfrm>
          <a:prstGeom prst="rect">
            <a:avLst/>
          </a:prstGeom>
        </p:spPr>
      </p:pic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205" y="4480560"/>
            <a:ext cx="1337310" cy="17830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645920"/>
            <a:ext cx="52852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50" b="1">
                <a:solidFill>
                  <a:srgbClr val="B45309"/>
                </a:solidFill>
                <a:latin typeface="Segoe UI"/>
              </a:defRPr>
            </a:pPr>
            <a:r>
              <a:t>HAK DESAIN INDUSTRI KEMENKUMHAM RI</a:t>
            </a:r>
          </a:p>
          <a:p>
            <a:pPr>
              <a:spcAft>
                <a:spcPts val="600"/>
              </a:spcAft>
              <a:defRPr sz="1150" b="1">
                <a:solidFill>
                  <a:srgbClr val="64748B"/>
                </a:solidFill>
                <a:latin typeface="Segoe UI"/>
              </a:defRPr>
            </a:pPr>
            <a:r>
              <a:t>No. Pendaftaran: IDD000088830  |  No. Permohonan: A00202600337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Judul Ciptaan : </a:t>
            </a:r>
            <a:r>
              <a:rPr b="0">
                <a:solidFill>
                  <a:srgbClr val="334155"/>
                </a:solidFill>
              </a:rPr>
              <a:t>"Mesin silase chopper otomatis berbasis teknologi hybrid" — Inovasi mesin pemroses pakan ternak hibrida efisien energi.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Peran Pendesain : </a:t>
            </a:r>
            <a:r>
              <a:rPr b="0">
                <a:solidFill>
                  <a:srgbClr val="334155"/>
                </a:solidFill>
              </a:rPr>
              <a:t>Pendesain resmi (Izza Maulana Akbar &amp; tim). Merancang pemodelan geometri 3D, mekanisme pisau chopper, transmisi hybrid, dan berkas klaim HKI.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23360"/>
            <a:ext cx="528523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420624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LAMPIRAN RESMI KEPEMILIKAN DESAIN INDUSTRI KEMENKUMHAM RI</a:t>
            </a:r>
          </a:p>
        </p:txBody>
      </p:sp>
      <p:pic>
        <p:nvPicPr>
          <p:cNvPr id="17" name="Picture 16" descr="image11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611" y="4480560"/>
            <a:ext cx="3414408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INOVASI &amp; PRESTASI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Kewirausahaan Mahasiswa Indonesia (KMI Expo XV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Validasi produk inovasi material genting komposit ramah lingkungan di ajang nasional Ditjen Diktiristek.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50" b="1">
                <a:solidFill>
                  <a:srgbClr val="1D4ED8"/>
                </a:solidFill>
                <a:latin typeface="Segoe UI"/>
              </a:defRPr>
            </a:pPr>
            <a:r>
              <a:t>FINALIS KMI EXPO XV 2024 (KENDARI)</a:t>
            </a:r>
          </a:p>
          <a:p>
            <a:pPr>
              <a:spcAft>
                <a:spcPts val="600"/>
              </a:spcAft>
              <a:defRPr sz="1150" b="1">
                <a:solidFill>
                  <a:srgbClr val="64748B"/>
                </a:solidFill>
                <a:latin typeface="Segoe UI"/>
              </a:defRPr>
            </a:pPr>
            <a:r>
              <a:t>Ditjen Diktiristek Kemendikbudristek &amp; Universitas Halu Oleo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Inovasi Produk : </a:t>
            </a:r>
            <a:r>
              <a:rPr b="0">
                <a:solidFill>
                  <a:srgbClr val="334155"/>
                </a:solidFill>
              </a:rPr>
              <a:t>Mengembangkan prototipe "Genting Plastik Komposit" — produk panel atap ramah lingkungan berbasis daur ulang polimer berkekuatan mekanik tinggi.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Pameran &amp; Pitching : </a:t>
            </a:r>
            <a:r>
              <a:rPr b="0">
                <a:solidFill>
                  <a:srgbClr val="334155"/>
                </a:solidFill>
              </a:rPr>
              <a:t>Membuka stan resmi mewakili Kontingen UTM dan memaparkan keunggulan teknis produk di hadapan investor, pelaku industri, dan juri nasional.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47857"/>
                </a:solidFill>
                <a:latin typeface="Segoe UI"/>
              </a:defRPr>
            </a:pPr>
            <a:r>
              <a:t>DIVISI KEWIRAUSAHAAN — PENGALAMAN ORGANISASI</a:t>
            </a:r>
          </a:p>
          <a:p>
            <a:pPr>
              <a:spcAft>
                <a:spcPts val="600"/>
              </a:spcAft>
              <a:defRPr sz="1150" b="1">
                <a:solidFill>
                  <a:srgbClr val="64748B"/>
                </a:solidFill>
                <a:latin typeface="Segoe UI"/>
              </a:defRPr>
            </a:pPr>
            <a:r>
              <a:t>Ikatan Mahasiswa Ronggolawe  |  Januari 2024 – Maret 2025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Rantai Pasok &amp; Produksi : </a:t>
            </a:r>
            <a:r>
              <a:rPr b="0">
                <a:solidFill>
                  <a:srgbClr val="334155"/>
                </a:solidFill>
              </a:rPr>
              <a:t>Mengelola alur manufaktur dan distribusi penjualan produk unit usaha organisasi secara terukur.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Pemasaran &amp; Kemitraan : </a:t>
            </a:r>
            <a:r>
              <a:rPr b="0">
                <a:solidFill>
                  <a:srgbClr val="334155"/>
                </a:solidFill>
              </a:rPr>
              <a:t>Menyelenggarakan workshop strategi bisnis dan menjalin kesepakatan sponsorship pihak ketiga.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852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55648"/>
            <a:ext cx="41148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BANNER KONTINGEN RESMI UNIVERSITAS TRUNOJOYO MADURA</a:t>
            </a:r>
          </a:p>
        </p:txBody>
      </p:sp>
      <p:pic>
        <p:nvPicPr>
          <p:cNvPr id="13" name="Picture 12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576" y="2103120"/>
            <a:ext cx="2316480" cy="17373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4069080"/>
            <a:ext cx="52852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78808"/>
            <a:ext cx="41148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DELEGASI KMI EXPO XV DI UNIVERSITAS HALU OLEO KENDARI</a:t>
            </a:r>
          </a:p>
        </p:txBody>
      </p:sp>
      <p:pic>
        <p:nvPicPr>
          <p:cNvPr id="16" name="Picture 15" descr="image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021" y="4526280"/>
            <a:ext cx="1001589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PROYEK DESAIN CAD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Perancangan Bejana Tekan Vertikal &amp; Assembly Caster 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Dokumentasi pemodelan 3D parametrik, drafting 2D orthographic, dan penyusunan Bill of Materials (BOM).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07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BEJANA TEKAN VERTIKAL (PRESSURE VESSEL)</a:t>
            </a:r>
          </a:p>
          <a:p>
            <a:pPr>
              <a:spcAft>
                <a:spcPts val="5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Software: Autodesk Inventor  |  Skala 1:17  |  Satuan: mm</a:t>
            </a:r>
          </a:p>
          <a:p>
            <a:pPr>
              <a:spcAft>
                <a:spcPts val="3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Elemen Perancangan : </a:t>
            </a:r>
            <a:r>
              <a:rPr b="0">
                <a:solidFill>
                  <a:srgbClr val="334155"/>
                </a:solidFill>
              </a:rPr>
              <a:t>Shell silindris tahan tekanan, head torispherical atas-bawah, nozzle berflange, manhole, dan 4 kaki skirt support.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Gambar Kerja 2D : </a:t>
            </a:r>
            <a:r>
              <a:rPr b="0">
                <a:solidFill>
                  <a:srgbClr val="334155"/>
                </a:solidFill>
              </a:rPr>
              <a:t>Dimensi diameter presisi, ketinggian total, proyeksi sudut, dan toleransi fabrikasi bejana tekan.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38404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MODEL PARAMETRIK 3D &amp; GAMBAR KERJA 2D</a:t>
            </a:r>
          </a:p>
        </p:txBody>
      </p:sp>
      <p:pic>
        <p:nvPicPr>
          <p:cNvPr id="12" name="Picture 11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18566"/>
            <a:ext cx="2377440" cy="1232746"/>
          </a:xfrm>
          <a:prstGeom prst="rect">
            <a:avLst/>
          </a:prstGeom>
        </p:spPr>
      </p:pic>
      <p:pic>
        <p:nvPicPr>
          <p:cNvPr id="13" name="Picture 12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403451"/>
            <a:ext cx="2377440" cy="16629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645920"/>
            <a:ext cx="52852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ASSEMBLY CASTER WHEEL DENGAN REM &amp; BOM</a:t>
            </a:r>
          </a:p>
          <a:p>
            <a:pPr>
              <a:spcAft>
                <a:spcPts val="500"/>
              </a:spcAft>
              <a:defRPr sz="1150" b="1">
                <a:solidFill>
                  <a:srgbClr val="047857"/>
                </a:solidFill>
                <a:latin typeface="Segoe UI"/>
              </a:defRPr>
            </a:pPr>
            <a:r>
              <a:t>Software: Autodesk Inventor  |  Skala 1:1  |  Parts List BOM</a:t>
            </a:r>
          </a:p>
          <a:p>
            <a:pPr>
              <a:spcAft>
                <a:spcPts val="3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Exploded View &amp; Ballooning : </a:t>
            </a:r>
            <a:r>
              <a:rPr b="0">
                <a:solidFill>
                  <a:srgbClr val="334155"/>
                </a:solidFill>
              </a:rPr>
              <a:t>Rancang bangun rakitan roda industri beroda rem dengan nomor balon komponen serta tabel daftar material (BOM).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Spesifikasi Komponen : </a:t>
            </a:r>
            <a:r>
              <a:rPr b="0">
                <a:solidFill>
                  <a:srgbClr val="334155"/>
                </a:solidFill>
              </a:rPr>
              <a:t>Bodi &amp; alas (Baja AISI 1040), rem (Polipropilena), ban (Karet), baut &amp; mur pengunci (AISI 1040).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528523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794760"/>
            <a:ext cx="41148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GAMBAR EXPLODED VIEW BOM &amp; RAKITAN 3D CAD</a:t>
            </a:r>
          </a:p>
        </p:txBody>
      </p:sp>
      <p:pic>
        <p:nvPicPr>
          <p:cNvPr id="17" name="Picture 16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323922"/>
            <a:ext cx="2560320" cy="1822034"/>
          </a:xfrm>
          <a:prstGeom prst="rect">
            <a:avLst/>
          </a:prstGeom>
        </p:spPr>
      </p:pic>
      <p:pic>
        <p:nvPicPr>
          <p:cNvPr id="18" name="Picture 17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4423845"/>
            <a:ext cx="2286000" cy="16221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PROYEK DESAIN CAD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Rancang Bangun Mesin Agroindustri Pengolah Salak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Pengembangan mekanisme transmisi daya, struktur rangka, dan analisa perakitan mesin tepat guna.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MESIN PENGUPAS KULIT SALAK</a:t>
            </a:r>
          </a:p>
          <a:p>
            <a:pPr>
              <a:spcAft>
                <a:spcPts val="5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Kode: Kelompok 02 RBSM  |  Skala 1:10  |  No. Gambar: 16</a:t>
            </a:r>
          </a:p>
          <a:p>
            <a:pPr>
              <a:spcAft>
                <a:spcPts val="3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Prinsip Operasional : </a:t>
            </a:r>
            <a:r>
              <a:rPr b="0">
                <a:solidFill>
                  <a:srgbClr val="334155"/>
                </a:solidFill>
              </a:rPr>
              <a:t>Silinder perontok rotary bergigi digerakkan poros engkol tangan tereduksi guna mengupas kulit tanpa merusak buah.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Struktur Material : </a:t>
            </a:r>
            <a:r>
              <a:rPr b="0">
                <a:solidFill>
                  <a:srgbClr val="334155"/>
                </a:solidFill>
              </a:rPr>
              <a:t>Rangka (Mild Steel), rumah pengupas (Oak Wood), pisau rotary (Carbon Steel), bantalan (BS 292 Bearing).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38404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MODEL 3D &amp; GAMBAR ISOMETRIK PARTS LIST (BOM)</a:t>
            </a:r>
          </a:p>
        </p:txBody>
      </p:sp>
      <p:pic>
        <p:nvPicPr>
          <p:cNvPr id="12" name="Picture 11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6" y="4160520"/>
            <a:ext cx="2052707" cy="2148840"/>
          </a:xfrm>
          <a:prstGeom prst="rect">
            <a:avLst/>
          </a:prstGeom>
        </p:spPr>
      </p:pic>
      <p:pic>
        <p:nvPicPr>
          <p:cNvPr id="13" name="Picture 12" descr="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359282"/>
            <a:ext cx="2468880" cy="175131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645920"/>
            <a:ext cx="52852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MESIN PEMISAH BIJI SALAK OTOMATIS</a:t>
            </a:r>
          </a:p>
          <a:p>
            <a:pPr>
              <a:spcAft>
                <a:spcPts val="500"/>
              </a:spcAft>
              <a:defRPr sz="1150" b="1">
                <a:solidFill>
                  <a:srgbClr val="047857"/>
                </a:solidFill>
                <a:latin typeface="Segoe UI"/>
              </a:defRPr>
            </a:pPr>
            <a:r>
              <a:t>Software: Autodesk Inventor  |  Skala 1:10  |  No. Gambar: 17</a:t>
            </a:r>
          </a:p>
          <a:p>
            <a:pPr>
              <a:spcAft>
                <a:spcPts val="3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Transmisi Daya : </a:t>
            </a:r>
            <a:r>
              <a:rPr b="0">
                <a:solidFill>
                  <a:srgbClr val="334155"/>
                </a:solidFill>
              </a:rPr>
              <a:t>Motor listrik dihubungkan melalui V-Belt &amp; puli beralur ganda (Grooved Pulley) menuju mekanisme slider-crank.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Komponen Food-Grade : </a:t>
            </a:r>
            <a:r>
              <a:rPr b="0">
                <a:solidFill>
                  <a:srgbClr val="334155"/>
                </a:solidFill>
              </a:rPr>
              <a:t>Pendorong salak &amp; wadah pemisah biji menggunakan bahan Stainless Steel higienis tahan karat.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528523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794760"/>
            <a:ext cx="38404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MODEL 3D &amp; GAMBAR ISOMETRIK PARTS LIST (BOM)</a:t>
            </a:r>
          </a:p>
        </p:txBody>
      </p:sp>
      <p:pic>
        <p:nvPicPr>
          <p:cNvPr id="17" name="Picture 16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825" y="4160520"/>
            <a:ext cx="2203069" cy="2148840"/>
          </a:xfrm>
          <a:prstGeom prst="rect">
            <a:avLst/>
          </a:prstGeom>
        </p:spPr>
      </p:pic>
      <p:pic>
        <p:nvPicPr>
          <p:cNvPr id="18" name="Picture 17" descr="image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361500"/>
            <a:ext cx="2468880" cy="1746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SERTIFIKASI &amp; LEGALITAS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Hak Desain Industri, Pelatihan CAD, &amp; Kompetisi Nasional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Verifikasi formal pengakuan karya intelektual dan sertifikasi penguasaan perangkat lunak teknik.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09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200"/>
              </a:spcAft>
              <a:defRPr sz="1400" b="1">
                <a:solidFill>
                  <a:srgbClr val="B45309"/>
                </a:solidFill>
                <a:latin typeface="Segoe UI"/>
              </a:defRPr>
            </a:pPr>
            <a:r>
              <a:t>HAK DESAIN INDUSTRI</a:t>
            </a:r>
          </a:p>
          <a:p>
            <a:pPr>
              <a:spcAft>
                <a:spcPts val="2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Kemenkumham RI : </a:t>
            </a:r>
            <a:r>
              <a:rPr b="0">
                <a:solidFill>
                  <a:srgbClr val="334155"/>
                </a:solidFill>
              </a:rPr>
              <a:t>No. Registrasi IDD000088830</a:t>
            </a:r>
          </a:p>
          <a:p>
            <a:pPr>
              <a:spcAft>
                <a:spcPts val="4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Judul Desain : </a:t>
            </a:r>
            <a:r>
              <a:rPr b="0">
                <a:solidFill>
                  <a:srgbClr val="334155"/>
                </a:solidFill>
              </a:rPr>
              <a:t>Mesin Silase Chopper Hybrid</a:t>
            </a:r>
          </a:p>
        </p:txBody>
      </p:sp>
      <p:pic>
        <p:nvPicPr>
          <p:cNvPr id="10" name="Picture 9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62" y="2743200"/>
            <a:ext cx="2235715" cy="34747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79976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200"/>
              </a:spcAft>
              <a:defRPr sz="1400" b="1">
                <a:solidFill>
                  <a:srgbClr val="1D4ED8"/>
                </a:solidFill>
                <a:latin typeface="Segoe UI"/>
              </a:defRPr>
            </a:pPr>
            <a:r>
              <a:t>SERTIFIKASI SOLIDWORKS</a:t>
            </a:r>
          </a:p>
          <a:p>
            <a:pPr>
              <a:spcAft>
                <a:spcPts val="2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Penerbit : </a:t>
            </a:r>
            <a:r>
              <a:rPr b="0">
                <a:solidFill>
                  <a:srgbClr val="334155"/>
                </a:solidFill>
              </a:rPr>
              <a:t>HMM FT Univ. Trunojoyo Madura</a:t>
            </a:r>
          </a:p>
          <a:p>
            <a:pPr>
              <a:spcAft>
                <a:spcPts val="4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Keahlian : </a:t>
            </a:r>
            <a:r>
              <a:rPr b="0">
                <a:solidFill>
                  <a:srgbClr val="334155"/>
                </a:solidFill>
              </a:rPr>
              <a:t>2D Sketch, 3D Part, Assembly, Motion</a:t>
            </a:r>
          </a:p>
        </p:txBody>
      </p:sp>
      <p:pic>
        <p:nvPicPr>
          <p:cNvPr id="12" name="Picture 11" descr="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3365577"/>
            <a:ext cx="3154680" cy="22299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28432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200"/>
              </a:spcAft>
              <a:defRPr sz="1400" b="1">
                <a:solidFill>
                  <a:srgbClr val="047857"/>
                </a:solidFill>
                <a:latin typeface="Segoe UI"/>
              </a:defRPr>
            </a:pPr>
            <a:r>
              <a:t>KMI EXPO XV 2024</a:t>
            </a:r>
          </a:p>
          <a:p>
            <a:pPr>
              <a:spcAft>
                <a:spcPts val="2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Penyelenggara : </a:t>
            </a:r>
            <a:r>
              <a:rPr b="0">
                <a:solidFill>
                  <a:srgbClr val="334155"/>
                </a:solidFill>
              </a:rPr>
              <a:t>Ditjen Diktiristek &amp; Univ. Halu Oleo</a:t>
            </a:r>
          </a:p>
          <a:p>
            <a:pPr>
              <a:spcAft>
                <a:spcPts val="400"/>
              </a:spcAft>
              <a:defRPr sz="11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Predikat : </a:t>
            </a:r>
            <a:r>
              <a:rPr b="0">
                <a:solidFill>
                  <a:srgbClr val="334155"/>
                </a:solidFill>
              </a:rPr>
              <a:t>Peserta Pameran Kewirausahaan Nasional</a:t>
            </a:r>
          </a:p>
        </p:txBody>
      </p:sp>
      <p:pic>
        <p:nvPicPr>
          <p:cNvPr id="14" name="Picture 13" descr="image2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188" y="2743200"/>
            <a:ext cx="2493486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SERTIFIKASI &amp; LEGALITAS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Instruktur Laboratorium Manufaktur &amp; Kemahiran Bahasa Inggris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Legalitas kualifikasi instruksional teknik mesin dan tolok ukur komunikasi profesional.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Portofolio Profesional | Izza Maulana Akbar, S.T. — S1 Teknik Mesin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37960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4865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1D4ED8"/>
                </a:solidFill>
                <a:latin typeface="Segoe UI"/>
              </a:defRPr>
            </a:pPr>
            <a:r>
              <a:t>SERTIFIKAT ASISTEN PRAKTIKUM MANUFAKTUR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Nomor Surat : </a:t>
            </a:r>
            <a:r>
              <a:rPr b="0">
                <a:solidFill>
                  <a:srgbClr val="334155"/>
                </a:solidFill>
              </a:rPr>
              <a:t>001/ABC/IV/2025  |  Semester Genap 2025/2026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Instansi Pengesah : </a:t>
            </a:r>
            <a:r>
              <a:rPr b="0">
                <a:solidFill>
                  <a:srgbClr val="334155"/>
                </a:solidFill>
              </a:rPr>
              <a:t>Wakil Dekan I &amp; Koordinator Prodi Teknik Mesin FT UTM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Kompetensi : </a:t>
            </a:r>
            <a:r>
              <a:rPr b="0">
                <a:solidFill>
                  <a:srgbClr val="334155"/>
                </a:solidFill>
              </a:rPr>
              <a:t>Instruktur laboratorium CAD Inventor, pengelasan, dan K3 bengkel.</a:t>
            </a:r>
          </a:p>
        </p:txBody>
      </p:sp>
      <p:pic>
        <p:nvPicPr>
          <p:cNvPr id="10" name="Picture 9" descr="image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96" y="3108960"/>
            <a:ext cx="4467103" cy="3108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8776" y="1645920"/>
            <a:ext cx="524865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47857"/>
                </a:solidFill>
                <a:latin typeface="Segoe UI"/>
              </a:defRPr>
            </a:pPr>
            <a:r>
              <a:t>TEST OF ENGLISH FOR ACADEMIC PURPOSES (TEAP)</a:t>
            </a:r>
          </a:p>
          <a:p>
            <a:pPr>
              <a:spcAft>
                <a:spcPts val="2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Penyelenggara : </a:t>
            </a:r>
            <a:r>
              <a:rPr b="0">
                <a:solidFill>
                  <a:srgbClr val="334155"/>
                </a:solidFill>
              </a:rPr>
              <a:t>UPT Pusat Bahasa Universitas Trunojoyo Madura (2026)</a:t>
            </a:r>
          </a:p>
          <a:p>
            <a:pPr>
              <a:spcAft>
                <a:spcPts val="200"/>
              </a:spcAft>
              <a:defRPr sz="12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Skor Total : </a:t>
            </a:r>
            <a:r>
              <a:rPr b="0">
                <a:solidFill>
                  <a:srgbClr val="334155"/>
                </a:solidFill>
              </a:rPr>
              <a:t>453  (Listening: 45, Structure: 48, Reading: 43)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Kualifikasi : </a:t>
            </a:r>
            <a:r>
              <a:rPr b="0">
                <a:solidFill>
                  <a:srgbClr val="334155"/>
                </a:solidFill>
              </a:rPr>
              <a:t>Kecakapan memahami literatur teknik internasional dan manual mesin.</a:t>
            </a:r>
          </a:p>
        </p:txBody>
      </p:sp>
      <p:pic>
        <p:nvPicPr>
          <p:cNvPr id="12" name="Picture 11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697" y="3108960"/>
            <a:ext cx="4320813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02336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TERIMA KASIH — READY TO CONTRIBUTE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Siap Berkontribusi Nyata Bagi Kemajuan Perusahaan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8521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200">
                <a:solidFill>
                  <a:srgbClr val="334155"/>
                </a:solidFill>
                <a:latin typeface="Segoe UI"/>
              </a:defRPr>
            </a:pPr>
            <a:r>
              <a:t>Dengan latar belakang akademis Teknik Mesin yang kokoh, pengalaman langsung pemeliharaan preventif mesin industri, keahlian pengujian material standar ASTM, serta penguasaan desain 3D CAD/CAE, saya memiliki integritas dan kesiapan penuh untuk mendukung keandalan operasional, produktivitas tinggi, dan efisiensi manufaktur perusahaan Bapak/Ibu.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285292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INFORMASI KONTAK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WhatsApp : </a:t>
            </a:r>
            <a:r>
              <a:rPr b="0">
                <a:solidFill>
                  <a:srgbClr val="334155"/>
                </a:solidFill>
              </a:rPr>
              <a:t>+62 823-3796-9458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Email : </a:t>
            </a:r>
            <a:r>
              <a:rPr b="0">
                <a:solidFill>
                  <a:srgbClr val="334155"/>
                </a:solidFill>
              </a:rPr>
              <a:t>maulanaizza355@gmail.com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3429000"/>
            <a:ext cx="285292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47857"/>
                </a:solidFill>
                <a:latin typeface="Segoe UI"/>
              </a:defRPr>
            </a:pPr>
            <a:r>
              <a:t>DATA PENDIDIKAN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Gelar : </a:t>
            </a:r>
            <a:r>
              <a:rPr b="0">
                <a:solidFill>
                  <a:srgbClr val="334155"/>
                </a:solidFill>
              </a:rPr>
              <a:t>Sarjana Teknik (S.T.)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IPK : </a:t>
            </a:r>
            <a:r>
              <a:rPr b="0">
                <a:solidFill>
                  <a:srgbClr val="334155"/>
                </a:solidFill>
              </a:rPr>
              <a:t>3,42 / 4.00 (Teknik Mesin)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64024"/>
            <a:ext cx="285292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B45309"/>
                </a:solidFill>
                <a:latin typeface="Segoe UI"/>
              </a:defRPr>
            </a:pPr>
            <a:r>
              <a:t>DOMISILI &amp; MOBILITAS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Lokasi : </a:t>
            </a:r>
            <a:r>
              <a:rPr b="0">
                <a:solidFill>
                  <a:srgbClr val="334155"/>
                </a:solidFill>
              </a:rPr>
              <a:t>Kab. Tuban, Jawa Timur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Status : </a:t>
            </a:r>
            <a:r>
              <a:rPr b="0">
                <a:solidFill>
                  <a:srgbClr val="334155"/>
                </a:solidFill>
              </a:rPr>
              <a:t>Siap Ditugaskan On-Site / Luar Kota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4764024"/>
            <a:ext cx="285292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MINAT POSISI KERJA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Mechanical / Maintenance Eng. 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CAD Drafter / QA QC Material </a:t>
            </a:r>
            <a:r>
              <a:rPr b="0">
                <a:solidFill>
                  <a:srgbClr val="334155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585216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Terbuka Untuk Kesempatan Karir Full-Time &amp; Wawancara Kerja Kapan Saja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777240"/>
            <a:ext cx="4645152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914400"/>
            <a:ext cx="40233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ENGINEERING INTEGRITY &amp; CAREER READINESS</a:t>
            </a:r>
          </a:p>
        </p:txBody>
      </p:sp>
      <p:pic>
        <p:nvPicPr>
          <p:cNvPr id="13" name="Picture 12" descr="closing_engineering_17916255433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52132"/>
            <a:ext cx="4370832" cy="2439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